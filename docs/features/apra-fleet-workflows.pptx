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922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headline: apra-fleet workflows run in any domain. auto-sprint is the software-dev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pra-Labs/fleet-e2e-toy" TargetMode="External"/><Relationship Id="rId4" Type="http://schemas.openxmlformats.org/officeDocument/2006/relationships/hyperlink" Target="https://github.com/Apra-Labs/apra-p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pra-Labs/apra-p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251479"/>
            <a:ext cx="4340613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APRA FLEET · WORKFLOWS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5625" y="857250"/>
            <a:ext cx="1529374" cy="1047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839765"/>
            <a:ext cx="14716124" cy="223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516"/>
              </a:lnSpc>
              <a:buNone/>
            </a:pPr>
            <a:r>
              <a:rPr lang="en-US" sz="8250" b="1" kern="0" spc="-225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for any domain. </a:t>
            </a:r>
            <a:r>
              <a:rPr lang="en-US" sz="8250" b="1" kern="0" spc="-225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auto-sprint </a:t>
            </a:r>
            <a:r>
              <a:rPr lang="en-US" sz="8250" b="1" kern="0" spc="-225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just the first.</a:t>
            </a:r>
            <a:endParaRPr lang="en-US" sz="8250" dirty="0"/>
          </a:p>
        </p:txBody>
      </p:sp>
      <p:sp>
        <p:nvSpPr>
          <p:cNvPr id="5" name="Text 2"/>
          <p:cNvSpPr/>
          <p:nvPr/>
        </p:nvSpPr>
        <p:spPr>
          <a:xfrm>
            <a:off x="1143000" y="6458975"/>
            <a:ext cx="12263436" cy="952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24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portable workflow engine for the fleet — any provider, any machine, hundreds of runs at a time. auto-sprint shows it running a software sprint end to end.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43000" y="9308041"/>
            <a:ext cx="4077857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</a:t>
            </a:r>
            <a:r>
              <a:rPr lang="en-US" sz="1800" b="1" u="sng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github.com/Apra-Labs/apra-pm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383527" y="9308041"/>
            <a:ext cx="5031655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r>
              <a:rPr lang="en-US" sz="1800" b="1" u="sng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github.com/Apra-Labs/fleet-e2e-toy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99005"/>
            <a:ext cx="2263485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6463" y="762000"/>
            <a:ext cx="778536" cy="533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562034"/>
            <a:ext cx="17602199" cy="6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605"/>
              </a:lnSpc>
              <a:buNone/>
            </a:pPr>
            <a:r>
              <a:rPr lang="en-US" sz="4500" b="1" kern="0" spc="-112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orchestration is locked inside one vendor's CLI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1143000" y="2352559"/>
            <a:ext cx="15716249" cy="429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179"/>
              </a:lnSpc>
              <a:buNone/>
            </a:pPr>
            <a:r>
              <a:rPr lang="en-US" sz="2025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sprint loop works. But it can only run </a:t>
            </a:r>
            <a:r>
              <a:rPr lang="en-US" sz="2025" b="1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Claude Code </a:t>
            </a:r>
            <a:r>
              <a:rPr lang="en-US" sz="2025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while the fleet it should drive is already heterogeneous:</a:t>
            </a:r>
            <a:endParaRPr lang="en-US" sz="2025" dirty="0"/>
          </a:p>
        </p:txBody>
      </p:sp>
      <p:sp>
        <p:nvSpPr>
          <p:cNvPr id="6" name="Shape 3"/>
          <p:cNvSpPr/>
          <p:nvPr/>
        </p:nvSpPr>
        <p:spPr>
          <a:xfrm>
            <a:off x="1143000" y="3086447"/>
            <a:ext cx="3752784" cy="513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376892" y="3186989"/>
            <a:ext cx="3397584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fleet-dev / fleet-rev </a:t>
            </a:r>
            <a:r>
              <a:rPr lang="en-US" sz="1800" dirty="0">
                <a:solidFill>
                  <a:srgbClr val="5A6357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claude · local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067" y="3086447"/>
            <a:ext cx="3362689" cy="513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262959" y="3186989"/>
            <a:ext cx="2995786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fleet-win11 / fleet-mac15 </a:t>
            </a:r>
            <a:r>
              <a:rPr lang="en-US" sz="1800" dirty="0">
                <a:solidFill>
                  <a:srgbClr val="5A6357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ssh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525040" y="3086447"/>
            <a:ext cx="2482866" cy="513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758932" y="3186989"/>
            <a:ext cx="2091283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</a:t>
            </a:r>
            <a:r>
              <a:rPr lang="en-US" sz="1800" dirty="0">
                <a:solidFill>
                  <a:srgbClr val="5A6357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ssh · gpu/arm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141190" y="3086447"/>
            <a:ext cx="3128698" cy="513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11375081" y="3186989"/>
            <a:ext cx="2754775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opencode-toy </a:t>
            </a:r>
            <a:r>
              <a:rPr lang="en-US" sz="1800" dirty="0">
                <a:solidFill>
                  <a:srgbClr val="5A6357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self-hosted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143000" y="3733022"/>
            <a:ext cx="5531280" cy="513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376892" y="3833564"/>
            <a:ext cx="5229435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pm-planner / doer / harvester </a:t>
            </a:r>
            <a:r>
              <a:rPr lang="en-US" sz="1800" dirty="0">
                <a:solidFill>
                  <a:srgbClr val="5A6357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agy + claude flavors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43000" y="4703465"/>
            <a:ext cx="8486774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3D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HAVE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43000" y="5134156"/>
            <a:ext cx="7946707" cy="845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18"/>
              </a:lnSpc>
              <a:buNone/>
            </a:pPr>
            <a:r>
              <a:rPr lang="en-US" sz="2025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OS, local or SSH-remote, six LLM providers behind one </a:t>
            </a:r>
            <a:r>
              <a:rPr lang="en-US" sz="2025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execute_prompt </a:t>
            </a:r>
            <a:r>
              <a:rPr lang="en-US" sz="2025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interface.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9429749" y="4703465"/>
            <a:ext cx="8486774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C68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BLOCKS SCALE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429749" y="5134156"/>
            <a:ext cx="7946707" cy="835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18"/>
              </a:lnSpc>
              <a:buNone/>
            </a:pPr>
            <a:r>
              <a:rPr lang="en-US" sz="2025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Claude-Code-shaped workflow only drives Claude-Code-shaped members. Concurrency ceiling = open CLI windows.</a:t>
            </a:r>
            <a:endParaRPr lang="en-US" sz="2025" dirty="0"/>
          </a:p>
        </p:txBody>
      </p:sp>
      <p:sp>
        <p:nvSpPr>
          <p:cNvPr id="20" name="Text 17"/>
          <p:cNvSpPr/>
          <p:nvPr/>
        </p:nvSpPr>
        <p:spPr>
          <a:xfrm>
            <a:off x="1143000" y="9419166"/>
            <a:ext cx="1760219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a portable workflow runtime that is not IDE-shaped.</a:t>
            </a:r>
            <a:endParaRPr lang="en-US" sz="20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08505"/>
            <a:ext cx="2906415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BLOCKS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6463" y="571500"/>
            <a:ext cx="778536" cy="533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534"/>
            <a:ext cx="17602199" cy="6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605"/>
              </a:lnSpc>
              <a:buNone/>
            </a:pPr>
            <a:r>
              <a:rPr lang="en-US" sz="4500" b="1" kern="0" spc="-112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pieces — a workflow composes what it needs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1143000" y="2142959"/>
            <a:ext cx="14716124" cy="791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stack. The substrate, the task state, and the engine don't depend on each other. </a:t>
            </a:r>
            <a:r>
              <a:rPr lang="en-US" sz="1950" b="1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apra-fleet-se </a:t>
            </a:r>
            <a:r>
              <a:rPr lang="en-US" sz="195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on all three — auto-sprint is part of it.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3746996" y="3163011"/>
            <a:ext cx="10793925" cy="1285792"/>
          </a:xfrm>
          <a:prstGeom prst="roundRect">
            <a:avLst>
              <a:gd name="adj" fmla="val 13334"/>
            </a:avLst>
          </a:prstGeom>
          <a:solidFill>
            <a:srgbClr val="F1F5E3"/>
          </a:solidFill>
          <a:ln w="26458">
            <a:solidFill>
              <a:srgbClr val="94BA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865054" y="3437103"/>
            <a:ext cx="1055780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D52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apra-fleet-se </a:t>
            </a:r>
            <a:r>
              <a:rPr lang="en-US" sz="1875" b="1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software engineering on the fleet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865054" y="3862503"/>
            <a:ext cx="10557809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52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auto-sprint </a:t>
            </a: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(plan → develop → test → harvest, reviewer-gated) plus skills, hooks, and agents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35321" y="4563070"/>
            <a:ext cx="199909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94B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depends on ↓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3435449" y="4963087"/>
            <a:ext cx="5594284" cy="2286909"/>
          </a:xfrm>
          <a:prstGeom prst="roundRect">
            <a:avLst>
              <a:gd name="adj" fmla="val 6664"/>
            </a:avLst>
          </a:prstGeom>
          <a:solidFill>
            <a:srgbClr val="FFFFFF"/>
          </a:solidFill>
          <a:ln w="15875">
            <a:solidFill>
              <a:srgbClr val="7C64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756091" y="5226596"/>
            <a:ext cx="5448299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5B4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engine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3756091" y="5614954"/>
            <a:ext cx="5101589" cy="1072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b="1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apra-fleet-workflow </a:t>
            </a: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engine, journal, pricing, viewer. One portable SEA binary. Runs any workflow script.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258266" y="4963087"/>
            <a:ext cx="5594284" cy="2286909"/>
          </a:xfrm>
          <a:prstGeom prst="roundRect">
            <a:avLst>
              <a:gd name="adj" fmla="val 6664"/>
            </a:avLst>
          </a:prstGeom>
          <a:solidFill>
            <a:srgbClr val="FFFFFF"/>
          </a:solidFill>
          <a:ln w="15875">
            <a:solidFill>
              <a:srgbClr val="B49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578908" y="5226596"/>
            <a:ext cx="5448299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6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beads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578908" y="5614954"/>
            <a:ext cx="5101589" cy="140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DB and DAG — epics, dependencies, acceptance criteria, status. Git-friendly, standalone. Only workflows that track tasks need it.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691603" y="7364263"/>
            <a:ext cx="31951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94B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engine dispatches via ↓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3756091" y="7764280"/>
            <a:ext cx="10775817" cy="1606434"/>
          </a:xfrm>
          <a:prstGeom prst="roundRect">
            <a:avLst>
              <a:gd name="adj" fmla="val 9487"/>
            </a:avLst>
          </a:prstGeom>
          <a:solidFill>
            <a:srgbClr val="FFFFFF"/>
          </a:solidFill>
          <a:ln w="15875">
            <a:solidFill>
              <a:srgbClr val="3D7D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076733" y="8027788"/>
            <a:ext cx="11147987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5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substrate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4076733" y="8416147"/>
            <a:ext cx="10438570" cy="729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b="1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apra-fleet MCP server </a:t>
            </a: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member registry, auth, </a:t>
            </a:r>
            <a:r>
              <a:rPr lang="en-US" sz="1800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execute_command </a:t>
            </a: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800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execute_prompt </a:t>
            </a: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any member: local, SSH, any OS, six providers.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143000" y="9608674"/>
            <a:ext cx="17602199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(live dashboard, journals, cost stats) ships with the engine — every run gets it for free.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99005"/>
            <a:ext cx="1830379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6463" y="762000"/>
            <a:ext cx="778536" cy="533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562034"/>
            <a:ext cx="17602199" cy="6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605"/>
              </a:lnSpc>
              <a:buNone/>
            </a:pPr>
            <a:r>
              <a:rPr lang="en-US" sz="4500" b="1" kern="0" spc="-112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generations of the same sprint loop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1143000" y="2333459"/>
            <a:ext cx="17602199" cy="409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never changed. What changed is who drives it, and where it can run.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1143000" y="3123902"/>
            <a:ext cx="5130766" cy="3046842"/>
          </a:xfrm>
          <a:prstGeom prst="roundRect">
            <a:avLst>
              <a:gd name="adj" fmla="val 5002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232A24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143000" y="6165453"/>
            <a:ext cx="5130766" cy="9525"/>
          </a:xfrm>
          <a:prstGeom prst="rect">
            <a:avLst/>
          </a:prstGeom>
          <a:solidFill>
            <a:srgbClr val="E3E5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1143000" y="3123902"/>
            <a:ext cx="5130766" cy="74083"/>
          </a:xfrm>
          <a:prstGeom prst="rect">
            <a:avLst/>
          </a:prstGeom>
          <a:solidFill>
            <a:srgbClr val="3D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143000" y="3123902"/>
            <a:ext cx="9525" cy="3046842"/>
          </a:xfrm>
          <a:prstGeom prst="rect">
            <a:avLst/>
          </a:prstGeom>
          <a:solidFill>
            <a:srgbClr val="E3E5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268475" y="3123902"/>
            <a:ext cx="9525" cy="3046842"/>
          </a:xfrm>
          <a:prstGeom prst="rect">
            <a:avLst/>
          </a:prstGeom>
          <a:solidFill>
            <a:srgbClr val="E3E5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491175" y="3540869"/>
            <a:ext cx="487785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3D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1 — /pm</a:t>
            </a:r>
            <a:endParaRPr lang="en-US" sz="2175" dirty="0"/>
          </a:p>
        </p:txBody>
      </p:sp>
      <p:sp>
        <p:nvSpPr>
          <p:cNvPr id="12" name="Text 9"/>
          <p:cNvSpPr/>
          <p:nvPr/>
        </p:nvSpPr>
        <p:spPr>
          <a:xfrm>
            <a:off x="1491175" y="3915502"/>
            <a:ext cx="4877858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Human-driven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91175" y="4346194"/>
            <a:ext cx="4567449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1875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drive eight roles as subagents, cycle by cycle. Powerful, but manual — one provider, one project, full attention.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6578533" y="3123902"/>
            <a:ext cx="5130849" cy="3046842"/>
          </a:xfrm>
          <a:prstGeom prst="roundRect">
            <a:avLst>
              <a:gd name="adj" fmla="val 5002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232A24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578533" y="6165453"/>
            <a:ext cx="5130849" cy="9525"/>
          </a:xfrm>
          <a:prstGeom prst="rect">
            <a:avLst/>
          </a:prstGeom>
          <a:solidFill>
            <a:srgbClr val="E3E5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578533" y="3123902"/>
            <a:ext cx="5130849" cy="74083"/>
          </a:xfrm>
          <a:prstGeom prst="rect">
            <a:avLst/>
          </a:prstGeom>
          <a:solidFill>
            <a:srgbClr val="7C64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578533" y="3123902"/>
            <a:ext cx="9525" cy="3046842"/>
          </a:xfrm>
          <a:prstGeom prst="rect">
            <a:avLst/>
          </a:prstGeom>
          <a:solidFill>
            <a:srgbClr val="E3E5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11704091" y="3123902"/>
            <a:ext cx="9525" cy="3046842"/>
          </a:xfrm>
          <a:prstGeom prst="rect">
            <a:avLst/>
          </a:prstGeom>
          <a:solidFill>
            <a:srgbClr val="E3E5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926709" y="3540869"/>
            <a:ext cx="487794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7C6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2 — /auto-sprint</a:t>
            </a:r>
            <a:endParaRPr lang="en-US" sz="2175" dirty="0"/>
          </a:p>
        </p:txBody>
      </p:sp>
      <p:sp>
        <p:nvSpPr>
          <p:cNvPr id="20" name="Text 17"/>
          <p:cNvSpPr/>
          <p:nvPr/>
        </p:nvSpPr>
        <p:spPr>
          <a:xfrm>
            <a:off x="6926709" y="3915502"/>
            <a:ext cx="4877949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Scripted, unattended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926709" y="4346194"/>
            <a:ext cx="4567534" cy="151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1875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Retry/repair, phase resume, cost quotes — no human per cycle. But still inside Claude Code, still Claude-only members.</a:t>
            </a:r>
            <a:endParaRPr lang="en-US" sz="1875" dirty="0"/>
          </a:p>
        </p:txBody>
      </p:sp>
      <p:sp>
        <p:nvSpPr>
          <p:cNvPr id="22" name="Shape 19"/>
          <p:cNvSpPr/>
          <p:nvPr/>
        </p:nvSpPr>
        <p:spPr>
          <a:xfrm>
            <a:off x="12014149" y="3123902"/>
            <a:ext cx="5130849" cy="3046842"/>
          </a:xfrm>
          <a:prstGeom prst="roundRect">
            <a:avLst>
              <a:gd name="adj" fmla="val 5002"/>
            </a:avLst>
          </a:prstGeom>
          <a:solidFill>
            <a:srgbClr val="FFFFFF"/>
          </a:solidFill>
          <a:ln/>
          <a:effectLst>
            <a:outerShdw blurRad="114300" dist="19050" dir="5400000" algn="bl" rotWithShape="0">
              <a:srgbClr val="232A24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12014149" y="6165453"/>
            <a:ext cx="5130849" cy="9525"/>
          </a:xfrm>
          <a:prstGeom prst="rect">
            <a:avLst/>
          </a:prstGeom>
          <a:solidFill>
            <a:srgbClr val="E3E5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12014149" y="3123902"/>
            <a:ext cx="5130849" cy="74083"/>
          </a:xfrm>
          <a:prstGeom prst="rect">
            <a:avLst/>
          </a:prstGeom>
          <a:solidFill>
            <a:srgbClr val="94B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12014149" y="3123902"/>
            <a:ext cx="9525" cy="3046842"/>
          </a:xfrm>
          <a:prstGeom prst="rect">
            <a:avLst/>
          </a:prstGeom>
          <a:solidFill>
            <a:srgbClr val="E3E5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17139707" y="3123902"/>
            <a:ext cx="9525" cy="3046842"/>
          </a:xfrm>
          <a:prstGeom prst="rect">
            <a:avLst/>
          </a:prstGeom>
          <a:solidFill>
            <a:srgbClr val="E3E5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12362324" y="3540869"/>
            <a:ext cx="487794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3 — auto-sprint</a:t>
            </a:r>
            <a:endParaRPr lang="en-US" sz="2175" dirty="0"/>
          </a:p>
        </p:txBody>
      </p:sp>
      <p:sp>
        <p:nvSpPr>
          <p:cNvPr id="28" name="Text 25"/>
          <p:cNvSpPr/>
          <p:nvPr/>
        </p:nvSpPr>
        <p:spPr>
          <a:xfrm>
            <a:off x="12362324" y="3915502"/>
            <a:ext cx="4877949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Portable, fleet-wide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2362324" y="4346194"/>
            <a:ext cx="4567534" cy="1150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135"/>
              </a:lnSpc>
              <a:buNone/>
            </a:pPr>
            <a:r>
              <a:rPr lang="en-US" sz="1875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CLI on a SEA binary. Any fleet member, embeds in CI, launchable by other agents via </a:t>
            </a:r>
            <a:r>
              <a:rPr lang="en-US" sz="1875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execute_command</a:t>
            </a:r>
            <a:r>
              <a:rPr lang="en-US" sz="1875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  <p:sp>
        <p:nvSpPr>
          <p:cNvPr id="30" name="Text 27"/>
          <p:cNvSpPr/>
          <p:nvPr/>
        </p:nvSpPr>
        <p:spPr>
          <a:xfrm>
            <a:off x="1143000" y="9419166"/>
            <a:ext cx="1760219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3 removes the "how many CLI windows can I keep open" ceiling.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99005"/>
            <a:ext cx="3264851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3 · THE ENGINE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6463" y="762000"/>
            <a:ext cx="778536" cy="533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562034"/>
            <a:ext cx="17602199" cy="6181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571"/>
              </a:lnSpc>
              <a:buNone/>
            </a:pPr>
            <a:r>
              <a:rPr lang="en-US" sz="4350" b="1" kern="0" spc="-112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sprint, now a portable runtime</a:t>
            </a:r>
            <a:endParaRPr lang="en-US" sz="4350" dirty="0"/>
          </a:p>
        </p:txBody>
      </p:sp>
      <p:sp>
        <p:nvSpPr>
          <p:cNvPr id="5" name="Text 2"/>
          <p:cNvSpPr/>
          <p:nvPr/>
        </p:nvSpPr>
        <p:spPr>
          <a:xfrm>
            <a:off x="1143000" y="2313533"/>
            <a:ext cx="15206661" cy="791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Gen 2 proved, extracted into the </a:t>
            </a:r>
            <a:r>
              <a:rPr lang="en-US" sz="1950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apra-fleet-workflow </a:t>
            </a:r>
            <a:r>
              <a:rPr lang="en-US" sz="195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— one SEA binary with Node 22 embedded. </a:t>
            </a:r>
            <a:r>
              <a:rPr lang="en-US" sz="1950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apra-fleet-se </a:t>
            </a:r>
            <a:r>
              <a:rPr lang="en-US" sz="195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on it for software engineering.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1143000" y="3485968"/>
            <a:ext cx="3802724" cy="3365252"/>
          </a:xfrm>
          <a:prstGeom prst="roundRect">
            <a:avLst>
              <a:gd name="adj" fmla="val 4529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  <a:effectLst>
            <a:outerShdw blurRad="114300" dist="19050" dir="5400000" algn="bl" rotWithShape="0">
              <a:srgbClr val="232A24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453059" y="3796026"/>
            <a:ext cx="457150" cy="76150"/>
          </a:xfrm>
          <a:prstGeom prst="roundRect">
            <a:avLst>
              <a:gd name="adj" fmla="val 50000"/>
            </a:avLst>
          </a:prstGeom>
          <a:solidFill>
            <a:srgbClr val="94B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453059" y="4062677"/>
            <a:ext cx="35008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binary, zero installs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453059" y="4473277"/>
            <a:ext cx="3278085" cy="1763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are real files under </a:t>
            </a:r>
            <a:r>
              <a:rPr lang="en-US" sz="1800" dirty="0">
                <a:solidFill>
                  <a:srgbClr val="3D5214"/>
                </a:solidFill>
                <a:highlight>
                  <a:srgbClr val="F1F5E3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~/.apra-fleet/workflows/ </a:t>
            </a: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Ops boxes and CI runners need no Node, no npm.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193357" y="3485968"/>
            <a:ext cx="3850762" cy="3365252"/>
          </a:xfrm>
          <a:prstGeom prst="roundRect">
            <a:avLst>
              <a:gd name="adj" fmla="val 4529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  <a:effectLst>
            <a:outerShdw blurRad="114300" dist="19050" dir="5400000" algn="bl" rotWithShape="0">
              <a:srgbClr val="232A24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503416" y="3796026"/>
            <a:ext cx="457150" cy="76150"/>
          </a:xfrm>
          <a:prstGeom prst="roundRect">
            <a:avLst>
              <a:gd name="adj" fmla="val 50000"/>
            </a:avLst>
          </a:prstGeom>
          <a:solidFill>
            <a:srgbClr val="94B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503416" y="4062677"/>
            <a:ext cx="355370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provider</a:t>
            </a:r>
            <a:endParaRPr lang="en-US" sz="2025" dirty="0"/>
          </a:p>
        </p:txBody>
      </p:sp>
      <p:sp>
        <p:nvSpPr>
          <p:cNvPr id="13" name="Text 10"/>
          <p:cNvSpPr/>
          <p:nvPr/>
        </p:nvSpPr>
        <p:spPr>
          <a:xfrm>
            <a:off x="5503416" y="4473277"/>
            <a:ext cx="3327564" cy="2105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via fleet's </a:t>
            </a:r>
            <a:r>
              <a:rPr lang="en-US" sz="1800" dirty="0">
                <a:solidFill>
                  <a:srgbClr val="3D5214"/>
                </a:solidFill>
                <a:highlight>
                  <a:srgbClr val="F1F5E3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execute_prompt </a:t>
            </a: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claude, agy, codex, copilot, gemini, opencode. Tiers are </a:t>
            </a:r>
            <a:r>
              <a:rPr lang="en-US" sz="1800" dirty="0">
                <a:solidFill>
                  <a:srgbClr val="3D5214"/>
                </a:solidFill>
                <a:highlight>
                  <a:srgbClr val="F1F5E3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cheap/standard/premium </a:t>
            </a: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model IDs.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291753" y="3485968"/>
            <a:ext cx="3802807" cy="3365252"/>
          </a:xfrm>
          <a:prstGeom prst="roundRect">
            <a:avLst>
              <a:gd name="adj" fmla="val 4529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  <a:effectLst>
            <a:outerShdw blurRad="114300" dist="19050" dir="5400000" algn="bl" rotWithShape="0">
              <a:srgbClr val="232A24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9601811" y="3796026"/>
            <a:ext cx="457150" cy="76150"/>
          </a:xfrm>
          <a:prstGeom prst="roundRect">
            <a:avLst>
              <a:gd name="adj" fmla="val 50000"/>
            </a:avLst>
          </a:prstGeom>
          <a:solidFill>
            <a:srgbClr val="94B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601811" y="4062677"/>
            <a:ext cx="350095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workflow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9601811" y="4473277"/>
            <a:ext cx="3278170" cy="1420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800" dirty="0">
                <a:solidFill>
                  <a:srgbClr val="3D5214"/>
                </a:solidFill>
                <a:highlight>
                  <a:srgbClr val="F1F5E3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workflow.json </a:t>
            </a: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entry script is the whole contract — </a:t>
            </a:r>
            <a:r>
              <a:rPr lang="en-US" sz="1800" b="1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hello-world </a:t>
            </a: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~30 lines. Drop a dir in, it runs.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3342193" y="3485968"/>
            <a:ext cx="3802807" cy="3365252"/>
          </a:xfrm>
          <a:prstGeom prst="roundRect">
            <a:avLst>
              <a:gd name="adj" fmla="val 4529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  <a:effectLst>
            <a:outerShdw blurRad="114300" dist="19050" dir="5400000" algn="bl" rotWithShape="0">
              <a:srgbClr val="232A24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13652252" y="3796026"/>
            <a:ext cx="457150" cy="76150"/>
          </a:xfrm>
          <a:prstGeom prst="roundRect">
            <a:avLst>
              <a:gd name="adj" fmla="val 50000"/>
            </a:avLst>
          </a:prstGeom>
          <a:solidFill>
            <a:srgbClr val="94B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13652252" y="4062677"/>
            <a:ext cx="350095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launch agents</a:t>
            </a:r>
            <a:endParaRPr lang="en-US" sz="2025" dirty="0"/>
          </a:p>
        </p:txBody>
      </p:sp>
      <p:sp>
        <p:nvSpPr>
          <p:cNvPr id="21" name="Text 18"/>
          <p:cNvSpPr/>
          <p:nvPr/>
        </p:nvSpPr>
        <p:spPr>
          <a:xfrm>
            <a:off x="13652252" y="4473277"/>
            <a:ext cx="3278170" cy="1752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 is addressable via fleet's own MCP tools — an orchestrator agent, cron job, or CI can start a run. No terminal, no human.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143000" y="9413874"/>
            <a:ext cx="17602199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as </a:t>
            </a:r>
            <a:r>
              <a:rPr lang="en-US" sz="1800" b="1" dirty="0">
                <a:solidFill>
                  <a:srgbClr val="3D52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apra-fleet workflow &lt;name&gt; </a:t>
            </a:r>
            <a:r>
              <a:rPr lang="en-US" sz="1800" b="1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SEA import spike green on Linux, macOS, and Windows.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99005"/>
            <a:ext cx="4815557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3 · IN ACTION THIS WEEK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6463" y="762000"/>
            <a:ext cx="778536" cy="533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562034"/>
            <a:ext cx="17602199" cy="6181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571"/>
              </a:lnSpc>
              <a:buNone/>
            </a:pPr>
            <a:r>
              <a:rPr lang="en-US" sz="4350" b="1" kern="0" spc="-112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engine is building its own next release</a:t>
            </a:r>
            <a:endParaRPr lang="en-US" sz="4350" dirty="0"/>
          </a:p>
        </p:txBody>
      </p:sp>
      <p:sp>
        <p:nvSpPr>
          <p:cNvPr id="5" name="Text 2"/>
          <p:cNvSpPr/>
          <p:nvPr/>
        </p:nvSpPr>
        <p:spPr>
          <a:xfrm>
            <a:off x="1143000" y="2313533"/>
            <a:ext cx="16240124" cy="420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all-provider auto-sprint is driving </a:t>
            </a:r>
            <a:r>
              <a:rPr lang="en-US" sz="1950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apra-fleet-7pm </a:t>
            </a:r>
            <a:r>
              <a:rPr lang="en-US" sz="195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14-task epic that builds the SEA workflow-runner subsystem.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1143000" y="3000292"/>
            <a:ext cx="16001999" cy="1188641"/>
          </a:xfrm>
          <a:prstGeom prst="roundRect">
            <a:avLst>
              <a:gd name="adj" fmla="val 11219"/>
            </a:avLst>
          </a:prstGeom>
          <a:solidFill>
            <a:srgbClr val="232A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447800" y="3228892"/>
            <a:ext cx="15872459" cy="769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061"/>
              </a:lnSpc>
              <a:buNone/>
            </a:pPr>
            <a:r>
              <a:rPr lang="en-US" sz="1800" dirty="0">
                <a:solidFill>
                  <a:srgbClr val="C4E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packages/apra-fleet-se/bin/cli.mjs -i apra-fleet-7pm -m pm-doer-std -b feat/workflow-runner -B main --goal P1/P2 --budget 50 --viewer-port 8090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143000" y="4569933"/>
            <a:ext cx="3814713" cy="2274176"/>
          </a:xfrm>
          <a:prstGeom prst="roundRect">
            <a:avLst>
              <a:gd name="adj" fmla="val 6701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  <a:effectLst>
            <a:outerShdw blurRad="114300" dist="19050" dir="5400000" algn="bl" rotWithShape="0">
              <a:srgbClr val="232A24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434042" y="4860974"/>
            <a:ext cx="457150" cy="76150"/>
          </a:xfrm>
          <a:prstGeom prst="roundRect">
            <a:avLst>
              <a:gd name="adj" fmla="val 50000"/>
            </a:avLst>
          </a:prstGeom>
          <a:solidFill>
            <a:srgbClr val="94B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434042" y="5108525"/>
            <a:ext cx="355589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tree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1434042" y="5519125"/>
            <a:ext cx="3329608" cy="10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dispatch and command, grouped by cycle and phase, down to raw input/output.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205346" y="4569933"/>
            <a:ext cx="3814795" cy="2274176"/>
          </a:xfrm>
          <a:prstGeom prst="roundRect">
            <a:avLst>
              <a:gd name="adj" fmla="val 6701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  <a:effectLst>
            <a:outerShdw blurRad="114300" dist="19050" dir="5400000" algn="bl" rotWithShape="0">
              <a:srgbClr val="232A24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496388" y="4860974"/>
            <a:ext cx="457150" cy="76150"/>
          </a:xfrm>
          <a:prstGeom prst="roundRect">
            <a:avLst>
              <a:gd name="adj" fmla="val 50000"/>
            </a:avLst>
          </a:prstGeom>
          <a:solidFill>
            <a:srgbClr val="94B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496388" y="5108525"/>
            <a:ext cx="355598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Beads panel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5496388" y="5519125"/>
            <a:ext cx="3329693" cy="10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task DAG beside the run — auditable state, not chat scrollback.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267775" y="4569933"/>
            <a:ext cx="3814795" cy="2274176"/>
          </a:xfrm>
          <a:prstGeom prst="roundRect">
            <a:avLst>
              <a:gd name="adj" fmla="val 6701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  <a:effectLst>
            <a:outerShdw blurRad="114300" dist="19050" dir="5400000" algn="bl" rotWithShape="0">
              <a:srgbClr val="232A24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9558817" y="4860974"/>
            <a:ext cx="457150" cy="76150"/>
          </a:xfrm>
          <a:prstGeom prst="roundRect">
            <a:avLst>
              <a:gd name="adj" fmla="val 50000"/>
            </a:avLst>
          </a:prstGeom>
          <a:solidFill>
            <a:srgbClr val="94B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9558817" y="5108525"/>
            <a:ext cx="355598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via SSE</a:t>
            </a:r>
            <a:endParaRPr lang="en-US" sz="2025" dirty="0"/>
          </a:p>
        </p:txBody>
      </p:sp>
      <p:sp>
        <p:nvSpPr>
          <p:cNvPr id="19" name="Text 16"/>
          <p:cNvSpPr/>
          <p:nvPr/>
        </p:nvSpPr>
        <p:spPr>
          <a:xfrm>
            <a:off x="9558817" y="5519125"/>
            <a:ext cx="3329693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a sprint from a browser tab while it runs unattended.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3330204" y="4569933"/>
            <a:ext cx="3814795" cy="2274176"/>
          </a:xfrm>
          <a:prstGeom prst="roundRect">
            <a:avLst>
              <a:gd name="adj" fmla="val 6701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  <a:effectLst>
            <a:outerShdw blurRad="114300" dist="19050" dir="5400000" algn="bl" rotWithShape="0">
              <a:srgbClr val="232A24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13621245" y="4860974"/>
            <a:ext cx="457150" cy="76150"/>
          </a:xfrm>
          <a:prstGeom prst="roundRect">
            <a:avLst>
              <a:gd name="adj" fmla="val 50000"/>
            </a:avLst>
          </a:prstGeom>
          <a:solidFill>
            <a:srgbClr val="94B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3621245" y="5108525"/>
            <a:ext cx="355598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+ tokens</a:t>
            </a:r>
            <a:endParaRPr lang="en-US" sz="2025" dirty="0"/>
          </a:p>
        </p:txBody>
      </p:sp>
      <p:sp>
        <p:nvSpPr>
          <p:cNvPr id="23" name="Text 20"/>
          <p:cNvSpPr/>
          <p:nvPr/>
        </p:nvSpPr>
        <p:spPr>
          <a:xfrm>
            <a:off x="13621245" y="5519125"/>
            <a:ext cx="3329693" cy="1072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Per-activity token counts, run-level spend, and a </a:t>
            </a:r>
            <a:r>
              <a:rPr lang="en-US" sz="1800" dirty="0">
                <a:solidFill>
                  <a:srgbClr val="3D5214"/>
                </a:solidFill>
                <a:highlight>
                  <a:srgbClr val="F1F5E3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--budget </a:t>
            </a: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ceiling enforced by the runner.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143000" y="9456208"/>
            <a:ext cx="17602199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carried from Gen 2: topology preflight, branch-ensure, budget and cycle ceilings.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8021"/>
            <a:ext cx="3478857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94B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BIGGER PICTURE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190598" y="762000"/>
            <a:ext cx="954402" cy="571335"/>
          </a:xfrm>
          <a:prstGeom prst="roundRect">
            <a:avLst>
              <a:gd name="adj" fmla="val 20006"/>
            </a:avLst>
          </a:prstGeom>
          <a:solidFill>
            <a:srgbClr val="FB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1998" y="838150"/>
            <a:ext cx="611601" cy="4190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599985"/>
            <a:ext cx="17602199" cy="678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209"/>
              </a:lnSpc>
              <a:buNone/>
            </a:pPr>
            <a:r>
              <a:rPr lang="en-US" sz="4800" b="1" kern="0" spc="-112" dirty="0">
                <a:solidFill>
                  <a:srgbClr val="FBF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any domain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143000" y="2411429"/>
            <a:ext cx="14716124" cy="838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136"/>
              </a:lnSpc>
              <a:buNone/>
            </a:pPr>
            <a:r>
              <a:rPr lang="en-US" sz="2100" dirty="0">
                <a:solidFill>
                  <a:srgbClr val="A8B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in the engine knows about code. auto-sprint is simply the first workflow — the software-development playbook. Any repeatable, agent-driven playbook fits the same contract.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143000" y="3706895"/>
            <a:ext cx="3917818" cy="2002317"/>
          </a:xfrm>
          <a:prstGeom prst="roundRect">
            <a:avLst>
              <a:gd name="adj" fmla="val 7611"/>
            </a:avLst>
          </a:prstGeom>
          <a:solidFill>
            <a:srgbClr val="94BA33">
              <a:alpha val="15000"/>
            </a:srgbClr>
          </a:solidFill>
          <a:ln w="15875">
            <a:solidFill>
              <a:srgbClr val="94BA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425525" y="4008520"/>
            <a:ext cx="368804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C4E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development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425525" y="4400103"/>
            <a:ext cx="3453350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CBD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auto-sprint — shipped and running today.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289351" y="3706895"/>
            <a:ext cx="3896651" cy="2002317"/>
          </a:xfrm>
          <a:prstGeom prst="roundRect">
            <a:avLst>
              <a:gd name="adj" fmla="val 7611"/>
            </a:avLst>
          </a:prstGeom>
          <a:solidFill>
            <a:srgbClr val="FFFFFF">
              <a:alpha val="5000"/>
            </a:srgbClr>
          </a:solidFill>
          <a:ln w="5292">
            <a:solidFill>
              <a:srgbClr val="94BA3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561293" y="3997936"/>
            <a:ext cx="368804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4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5561293" y="4389520"/>
            <a:ext cx="3453350" cy="10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CBD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enrichment, pricing reviews, inventory reconciliation.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414536" y="3706895"/>
            <a:ext cx="3896651" cy="2002317"/>
          </a:xfrm>
          <a:prstGeom prst="roundRect">
            <a:avLst>
              <a:gd name="adj" fmla="val 7611"/>
            </a:avLst>
          </a:prstGeom>
          <a:solidFill>
            <a:srgbClr val="FFFFFF">
              <a:alpha val="5000"/>
            </a:srgbClr>
          </a:solidFill>
          <a:ln w="5292">
            <a:solidFill>
              <a:srgbClr val="94BA3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686478" y="3997936"/>
            <a:ext cx="368804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4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9686478" y="4389520"/>
            <a:ext cx="3453350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CBD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checks, reconciliation runs, compliance reporting.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143000" y="5937746"/>
            <a:ext cx="3896651" cy="1659433"/>
          </a:xfrm>
          <a:prstGeom prst="roundRect">
            <a:avLst>
              <a:gd name="adj" fmla="val 9184"/>
            </a:avLst>
          </a:prstGeom>
          <a:solidFill>
            <a:srgbClr val="FFFFFF">
              <a:alpha val="5000"/>
            </a:srgbClr>
          </a:solidFill>
          <a:ln w="5292">
            <a:solidFill>
              <a:srgbClr val="94BA3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1414942" y="6228787"/>
            <a:ext cx="368804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4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1414942" y="6620371"/>
            <a:ext cx="3453350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CBD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triage, records summarization, coding review.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268185" y="5937746"/>
            <a:ext cx="3896651" cy="1659433"/>
          </a:xfrm>
          <a:prstGeom prst="roundRect">
            <a:avLst>
              <a:gd name="adj" fmla="val 9184"/>
            </a:avLst>
          </a:prstGeom>
          <a:solidFill>
            <a:srgbClr val="FFFFFF">
              <a:alpha val="5000"/>
            </a:srgbClr>
          </a:solidFill>
          <a:ln w="5292">
            <a:solidFill>
              <a:srgbClr val="94BA3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540126" y="6228787"/>
            <a:ext cx="368804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4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</a:t>
            </a:r>
            <a:endParaRPr lang="en-US" sz="2025" dirty="0"/>
          </a:p>
        </p:txBody>
      </p:sp>
      <p:sp>
        <p:nvSpPr>
          <p:cNvPr id="21" name="Text 18"/>
          <p:cNvSpPr/>
          <p:nvPr/>
        </p:nvSpPr>
        <p:spPr>
          <a:xfrm>
            <a:off x="5540126" y="6620371"/>
            <a:ext cx="3453350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CBD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triage, escalation playbooks, QA sampling.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393369" y="5937746"/>
            <a:ext cx="3896651" cy="1659433"/>
          </a:xfrm>
          <a:prstGeom prst="roundRect">
            <a:avLst>
              <a:gd name="adj" fmla="val 9184"/>
            </a:avLst>
          </a:prstGeom>
          <a:solidFill>
            <a:srgbClr val="FFFFFF">
              <a:alpha val="5000"/>
            </a:srgbClr>
          </a:solidFill>
          <a:ln w="5292">
            <a:solidFill>
              <a:srgbClr val="94BA3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9665311" y="6228787"/>
            <a:ext cx="368804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4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…anything</a:t>
            </a:r>
            <a:endParaRPr lang="en-US" sz="2025" dirty="0"/>
          </a:p>
        </p:txBody>
      </p:sp>
      <p:sp>
        <p:nvSpPr>
          <p:cNvPr id="24" name="Text 21"/>
          <p:cNvSpPr/>
          <p:nvPr/>
        </p:nvSpPr>
        <p:spPr>
          <a:xfrm>
            <a:off x="9665311" y="6620371"/>
            <a:ext cx="3453350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CBD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playbook can be written down, the fleet can run it.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143000" y="9387416"/>
            <a:ext cx="17602199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4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authoring contract stays the same: </a:t>
            </a:r>
            <a:r>
              <a:rPr lang="en-US" sz="1950" b="1" dirty="0">
                <a:solidFill>
                  <a:srgbClr val="C4E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workflow.json </a:t>
            </a:r>
            <a:r>
              <a:rPr lang="en-US" sz="1950" b="1" dirty="0">
                <a:solidFill>
                  <a:srgbClr val="F4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entry script, dropped into </a:t>
            </a:r>
            <a:r>
              <a:rPr lang="en-US" sz="1950" b="1" dirty="0">
                <a:solidFill>
                  <a:srgbClr val="C4E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~/.apra-fleet/workflows/</a:t>
            </a:r>
            <a:r>
              <a:rPr lang="en-US" sz="1950" b="1" dirty="0">
                <a:solidFill>
                  <a:srgbClr val="F4F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99005"/>
            <a:ext cx="2491498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WINS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6463" y="762000"/>
            <a:ext cx="778536" cy="533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562034"/>
            <a:ext cx="17602199" cy="6181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571"/>
              </a:lnSpc>
              <a:buNone/>
            </a:pPr>
            <a:r>
              <a:rPr lang="en-US" sz="4350" b="1" kern="0" spc="-112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 AI pair-programmer to an agentic workforce</a:t>
            </a:r>
            <a:endParaRPr lang="en-US" sz="4350" dirty="0"/>
          </a:p>
        </p:txBody>
      </p:sp>
      <p:sp>
        <p:nvSpPr>
          <p:cNvPr id="5" name="Text 2"/>
          <p:cNvSpPr/>
          <p:nvPr/>
        </p:nvSpPr>
        <p:spPr>
          <a:xfrm>
            <a:off x="1143000" y="2313533"/>
            <a:ext cx="14716124" cy="7809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Single-IDE agent tools structurally cannot do this — their orchestration dies with the chat window. Ours is a runtime with durable state.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1143000" y="3475385"/>
            <a:ext cx="3017573" cy="2707101"/>
          </a:xfrm>
          <a:prstGeom prst="roundRect">
            <a:avLst>
              <a:gd name="adj" fmla="val 5630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  <a:effectLst>
            <a:outerShdw blurRad="114300" dist="19050" dir="5400000" algn="bl" rotWithShape="0">
              <a:srgbClr val="232A24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395925" y="3766426"/>
            <a:ext cx="2762895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1395925" y="4177026"/>
            <a:ext cx="2587923" cy="1752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provider, any OS, local or remote. Swap a member's backend; the workflow doesn't change.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389107" y="3475385"/>
            <a:ext cx="3017573" cy="2707101"/>
          </a:xfrm>
          <a:prstGeom prst="roundRect">
            <a:avLst>
              <a:gd name="adj" fmla="val 5630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  <a:effectLst>
            <a:outerShdw blurRad="114300" dist="19050" dir="5400000" algn="bl" rotWithShape="0">
              <a:srgbClr val="232A24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642031" y="3766426"/>
            <a:ext cx="2762895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Embeddable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4642031" y="4177026"/>
            <a:ext cx="2587923" cy="140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SEA binary. Runs from a terminal, a CI job, or another agent's tool call.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635213" y="3475385"/>
            <a:ext cx="3017573" cy="2707101"/>
          </a:xfrm>
          <a:prstGeom prst="roundRect">
            <a:avLst>
              <a:gd name="adj" fmla="val 5630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  <a:effectLst>
            <a:outerShdw blurRad="114300" dist="19050" dir="5400000" algn="bl" rotWithShape="0">
              <a:srgbClr val="232A24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888138" y="3766426"/>
            <a:ext cx="2762895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7888138" y="4177026"/>
            <a:ext cx="2587923" cy="10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Fleet-wide dispatch — the path to hundreds of concurrent workflows.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881320" y="3475385"/>
            <a:ext cx="3017573" cy="2707101"/>
          </a:xfrm>
          <a:prstGeom prst="roundRect">
            <a:avLst>
              <a:gd name="adj" fmla="val 5630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  <a:effectLst>
            <a:outerShdw blurRad="114300" dist="19050" dir="5400000" algn="bl" rotWithShape="0">
              <a:srgbClr val="232A24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11134245" y="3766426"/>
            <a:ext cx="2762895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11134245" y="4177026"/>
            <a:ext cx="2587923" cy="10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dashboards per run; DAG + journals as auditable state.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4127426" y="3475385"/>
            <a:ext cx="3017573" cy="2707101"/>
          </a:xfrm>
          <a:prstGeom prst="roundRect">
            <a:avLst>
              <a:gd name="adj" fmla="val 5630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  <a:effectLst>
            <a:outerShdw blurRad="114300" dist="19050" dir="5400000" algn="bl" rotWithShape="0">
              <a:srgbClr val="232A24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14380351" y="3766426"/>
            <a:ext cx="2762895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</a:t>
            </a:r>
            <a:endParaRPr lang="en-US" sz="2025" dirty="0"/>
          </a:p>
        </p:txBody>
      </p:sp>
      <p:sp>
        <p:nvSpPr>
          <p:cNvPr id="20" name="Text 17"/>
          <p:cNvSpPr/>
          <p:nvPr/>
        </p:nvSpPr>
        <p:spPr>
          <a:xfrm>
            <a:off x="14380351" y="4177026"/>
            <a:ext cx="2587923" cy="140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245"/>
              </a:lnSpc>
              <a:buNone/>
            </a:pPr>
            <a:r>
              <a:rPr lang="en-US" sz="180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survives restarts, machine changes, provider swaps. Kill a run; resume the sprint.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143000" y="9301178"/>
            <a:ext cx="15716249" cy="45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500"/>
              </a:lnSpc>
              <a:buNone/>
            </a:pPr>
            <a:r>
              <a:rPr lang="en-US" sz="2175" b="1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"one developer, one AI session" </a:t>
            </a:r>
            <a:r>
              <a:rPr lang="en-US" sz="2175" b="1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175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"hundreds of concurrent, auditable, multi-provider agentic workflows"</a:t>
            </a:r>
            <a:endParaRPr lang="en-US" sz="21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99005"/>
            <a:ext cx="2966442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6463" y="762000"/>
            <a:ext cx="778536" cy="533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562034"/>
            <a:ext cx="17602199" cy="6181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571"/>
              </a:lnSpc>
              <a:buNone/>
            </a:pPr>
            <a:r>
              <a:rPr lang="en-US" sz="4350" b="1" kern="0" spc="-112" dirty="0">
                <a:solidFill>
                  <a:srgbClr val="23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know the pieces</a:t>
            </a:r>
            <a:endParaRPr lang="en-US" sz="4350" dirty="0"/>
          </a:p>
        </p:txBody>
      </p:sp>
      <p:sp>
        <p:nvSpPr>
          <p:cNvPr id="5" name="Text 2"/>
          <p:cNvSpPr/>
          <p:nvPr/>
        </p:nvSpPr>
        <p:spPr>
          <a:xfrm>
            <a:off x="1143000" y="2313533"/>
            <a:ext cx="17602199" cy="409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you want — the LLM builds the invocation.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143000" y="3065942"/>
            <a:ext cx="9712151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ENGLISH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143000" y="3458517"/>
            <a:ext cx="8829228" cy="1285875"/>
          </a:xfrm>
          <a:prstGeom prst="roundRect">
            <a:avLst>
              <a:gd name="adj" fmla="val 10370"/>
            </a:avLst>
          </a:prstGeom>
          <a:solidFill>
            <a:srgbClr val="F1F5E3"/>
          </a:solidFill>
          <a:ln w="15875">
            <a:solidFill>
              <a:srgbClr val="94BA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463675" y="3702992"/>
            <a:ext cx="8452755" cy="835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518"/>
              </a:lnSpc>
              <a:buNone/>
            </a:pPr>
            <a:r>
              <a:rPr lang="en-US" sz="2025" i="1" dirty="0">
                <a:solidFill>
                  <a:srgbClr val="3D52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"Use /auto-sprint on epics BD-1 and BD-2, branch feat/my-sprint, close when P1 and P2 are done"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701539" y="4877676"/>
            <a:ext cx="9712151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94B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</a:t>
            </a:r>
            <a:r>
              <a:rPr lang="en-US" sz="1800" b="1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builds this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143000" y="5323168"/>
            <a:ext cx="8829228" cy="1188641"/>
          </a:xfrm>
          <a:prstGeom prst="roundRect">
            <a:avLst>
              <a:gd name="adj" fmla="val 11219"/>
            </a:avLst>
          </a:prstGeom>
          <a:solidFill>
            <a:srgbClr val="232A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447800" y="5551768"/>
            <a:ext cx="8484505" cy="769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061"/>
              </a:lnSpc>
              <a:buNone/>
            </a:pPr>
            <a:r>
              <a:rPr lang="en-US" sz="1800" dirty="0">
                <a:solidFill>
                  <a:srgbClr val="C4E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/auto-sprint {"issues":["BD-1","BD-2"],"branch":"feat/my-sprint","goal":"P1/P2"}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353227" y="3065942"/>
            <a:ext cx="7470948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353227" y="3458517"/>
            <a:ext cx="2942745" cy="513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0568069" y="3559059"/>
            <a:ext cx="2601344" cy="3503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</a:t>
            </a:r>
            <a:r>
              <a:rPr lang="en-US" sz="1800" dirty="0">
                <a:solidFill>
                  <a:srgbClr val="5A6357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P1 · P1/P2 · P1/P2/P3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410240" y="3458517"/>
            <a:ext cx="2601681" cy="513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13625081" y="3559059"/>
            <a:ext cx="2250048" cy="3503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max_cycles </a:t>
            </a:r>
            <a:r>
              <a:rPr lang="en-US" sz="1800" dirty="0">
                <a:solidFill>
                  <a:srgbClr val="5A6357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default 5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0353227" y="4086076"/>
            <a:ext cx="3107366" cy="513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0568069" y="4186618"/>
            <a:ext cx="2770903" cy="3503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base_branch </a:t>
            </a:r>
            <a:r>
              <a:rPr lang="en-US" sz="1800" dirty="0">
                <a:solidFill>
                  <a:srgbClr val="5A6357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default main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3574861" y="4086076"/>
            <a:ext cx="3044775" cy="513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292">
            <a:solidFill>
              <a:srgbClr val="E3E5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13789703" y="4186618"/>
            <a:ext cx="2706435" cy="35030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requirementsFile </a:t>
            </a:r>
            <a:r>
              <a:rPr lang="en-US" sz="1800" dirty="0">
                <a:solidFill>
                  <a:srgbClr val="5A6357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353227" y="4866018"/>
            <a:ext cx="7470948" cy="297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5A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APRA-PM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0353227" y="5258594"/>
            <a:ext cx="6791771" cy="1188641"/>
          </a:xfrm>
          <a:prstGeom prst="roundRect">
            <a:avLst>
              <a:gd name="adj" fmla="val 11219"/>
            </a:avLst>
          </a:prstGeom>
          <a:solidFill>
            <a:srgbClr val="232A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10658027" y="5487194"/>
            <a:ext cx="6385924" cy="769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061"/>
              </a:lnSpc>
              <a:buNone/>
            </a:pPr>
            <a:r>
              <a:rPr lang="en-US" sz="1800" dirty="0">
                <a:solidFill>
                  <a:srgbClr val="C4E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https://github.com/Apra-Labs/apra-pm &amp;&amp; node apra-pm/install.mjs</a:t>
            </a:r>
            <a:endParaRPr lang="en-US" sz="1800" dirty="0"/>
          </a:p>
        </p:txBody>
      </p:sp>
      <p:sp>
        <p:nvSpPr>
          <p:cNvPr id="24" name="Text 21">
            <a:hlinkClick r:id="rId4"/>
          </p:cNvPr>
          <p:cNvSpPr/>
          <p:nvPr/>
        </p:nvSpPr>
        <p:spPr>
          <a:xfrm>
            <a:off x="10353227" y="6580518"/>
            <a:ext cx="7470948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u="sng" dirty="0">
                <a:solidFill>
                  <a:srgbClr val="61801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github.com/Apra-Labs/apra-pm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1240</Words>
  <Application>Microsoft Office PowerPoint</Application>
  <PresentationFormat>Custom</PresentationFormat>
  <Paragraphs>125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Akhil Kumar</cp:lastModifiedBy>
  <cp:revision>2</cp:revision>
  <dcterms:created xsi:type="dcterms:W3CDTF">2026-07-14T03:40:32Z</dcterms:created>
  <dcterms:modified xsi:type="dcterms:W3CDTF">2026-07-14T03:44:19Z</dcterms:modified>
</cp:coreProperties>
</file>